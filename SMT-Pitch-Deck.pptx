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Porsi</c:v>
                </c:pt>
              </c:strCache>
            </c:strRef>
          </c:tx>
          <c:spPr>
            <a:solidFill>
              <a:srgbClr val="1E2329"/>
            </a:solidFill>
            <a:effectLst/>
          </c:spPr>
          <c:invertIfNegative val="0"/>
          <c:dLbls>
            <c:numFmt formatCode="0.#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329"/>
                    </a:solidFill>
                    <a:latin typeface="Segoe U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232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0B90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0B90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0B90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0B90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0B90B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F0B90B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L1</c:v>
                  </c:pt>
                  <c:pt idx="1">
                    <c:v>L2</c:v>
                  </c:pt>
                  <c:pt idx="2">
                    <c:v>L3</c:v>
                  </c:pt>
                  <c:pt idx="3">
                    <c:v>L4</c:v>
                  </c:pt>
                  <c:pt idx="4">
                    <c:v>L5</c:v>
                  </c:pt>
                  <c:pt idx="5">
                    <c:v>L6</c:v>
                  </c:pt>
                  <c:pt idx="6">
                    <c:v>L7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50</c:v>
                </c:pt>
                <c:pt idx="1">
                  <c:v>5</c:v>
                </c:pt>
                <c:pt idx="2">
                  <c:v>5</c:v>
                </c:pt>
                <c:pt idx="3">
                  <c:v>7.5</c:v>
                </c:pt>
                <c:pt idx="4">
                  <c:v>7.5</c:v>
                </c:pt>
                <c:pt idx="5">
                  <c:v>12.5</c:v>
                </c:pt>
                <c:pt idx="6">
                  <c:v>12.5</c:v>
                </c:pt>
              </c:numCache>
            </c:numRef>
          </c:val>
        </c:ser>
        <c:dLbls>
          <c:numFmt formatCode="0.#" sourceLinked="0"/>
          <c:txPr>
            <a:bodyPr/>
            <a:lstStyle/>
            <a:p>
              <a:pPr>
                <a:defRPr b="0" i="0" strike="noStrike" sz="1200" u="none">
                  <a:solidFill>
                    <a:srgbClr val="1E2329"/>
                  </a:solidFill>
                  <a:latin typeface="Segoe U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E7780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8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Pembuka: satu kalimat — 'Program reward crypto biasanya gelap; SMT membuat seluruh distribusinya bisa diverifikasi semua orang di BscScan.' Sebut kontrak live di mainnet sejak slide pertama.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Fokus di kepercayaan: dua ekstrem buruk (reward manual vs ponzi) plus fragmentasi tools yang membuat pemula menyerah di tengah jalan.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Tiga pilar solusi; sisi kanan adalah perjalanan pengguna dari wallet sampai reward terdistribusi tanpa klaim manual.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Mockup menggambarkan dashboard sungguhan: kartu pajak live, farming, lisensi, dan tim. Semua angka dibaca langsung dari kontrak, bukan hardcode.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Inti ekonomi: pajak buy/sell/transfer terbagi otomatis ke lima pool. Grafik: contoh distribusi ladder untuk aktivitas buy — level 1 (sponsor langsung) menerima porsi terbesar, sisanya mendorong pertumbuhan jaringan.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Tegaskan keunggulan serverless: tidak ada backend yang bisa memanipulasi data; satu-satunya layanan eksternal adalah RPC, IPFS avatar, dan Sentry.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Empat angka bukti: kontrak live, test lulus, QA selesai, likuiditas aktif. Tekankan ini sudah produksi — bukan demo testnet.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UUPS menjawab masalah kontrak immutable; kontrol akses berlapis membatasi dampak kompromi satu kunci. Runbook publik = komitmen transparansi.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Jujur soal posisi: engineering selesai, audit eksternal adalah langkah berikutnya dan itulah di mana dukungan hackathon paling berdampak.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Tutup dengan ajakan: fondasi sudah live dan terverifikasi; undang juri memeriksa sendiri kontrak di BscScan dan kode di GitHub.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1234440"/>
            <a:ext cx="3794760" cy="3794760"/>
          </a:xfrm>
          <a:prstGeom prst="ellipse">
            <a:avLst/>
          </a:prstGeom>
          <a:solidFill>
            <a:srgbClr val="10141A"/>
          </a:solidFill>
          <a:ln w="12700">
            <a:solidFill>
              <a:srgbClr val="333B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265408" y="3035808"/>
            <a:ext cx="146304" cy="146304"/>
          </a:xfrm>
          <a:prstGeom prst="ellipse">
            <a:avLst/>
          </a:prstGeom>
          <a:solidFill>
            <a:srgbClr val="F0B90B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0" y="1737360"/>
            <a:ext cx="2788920" cy="2788920"/>
          </a:xfrm>
          <a:prstGeom prst="ellipse">
            <a:avLst/>
          </a:prstGeom>
          <a:solidFill>
            <a:srgbClr val="F0B90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22437" y="2030197"/>
            <a:ext cx="2203247" cy="2203247"/>
          </a:xfrm>
          <a:prstGeom prst="ellipse">
            <a:avLst/>
          </a:prstGeom>
          <a:solidFill>
            <a:srgbClr val="10141A"/>
          </a:solidFill>
          <a:ln/>
        </p:spPr>
      </p:sp>
      <p:sp>
        <p:nvSpPr>
          <p:cNvPr id="6" name="Text 4"/>
          <p:cNvSpPr/>
          <p:nvPr/>
        </p:nvSpPr>
        <p:spPr>
          <a:xfrm>
            <a:off x="8522437" y="2030197"/>
            <a:ext cx="2203247" cy="22032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spc="200" kern="0" dirty="0">
                <a:solidFill>
                  <a:srgbClr val="F0B9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SMT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0" y="473659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9AA4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BNB SMART CHAIN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170432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F0B9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BNB SMART CHAIN HACKATHON SUBMISSION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1517904"/>
            <a:ext cx="7132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2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Ecosystem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640080" y="2542032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0B9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Ekosistem DeFi Satu Pintu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640080" y="3246120"/>
            <a:ext cx="6400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9AA4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Reward referral 7 level, farming, dan lisensi keanggotaan terdistribusi otomatis on-chain — lewat 10 smart contract UUPS yang bisa diverifikasi semua orang.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640080" y="5138928"/>
            <a:ext cx="100584" cy="100584"/>
          </a:xfrm>
          <a:prstGeom prst="rect">
            <a:avLst/>
          </a:prstGeom>
          <a:solidFill>
            <a:srgbClr val="F0B90B"/>
          </a:solidFill>
          <a:ln/>
        </p:spPr>
      </p:sp>
      <p:sp>
        <p:nvSpPr>
          <p:cNvPr id="13" name="Text 11"/>
          <p:cNvSpPr/>
          <p:nvPr/>
        </p:nvSpPr>
        <p:spPr>
          <a:xfrm>
            <a:off x="859536" y="50292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SMT Token · 0xf3F9B44b…c28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977640" y="5138928"/>
            <a:ext cx="100584" cy="100584"/>
          </a:xfrm>
          <a:prstGeom prst="rect">
            <a:avLst/>
          </a:prstGeom>
          <a:solidFill>
            <a:srgbClr val="F0B90B"/>
          </a:solidFill>
          <a:ln/>
        </p:spPr>
      </p:sp>
      <p:sp>
        <p:nvSpPr>
          <p:cNvPr id="15" name="Text 13"/>
          <p:cNvSpPr/>
          <p:nvPr/>
        </p:nvSpPr>
        <p:spPr>
          <a:xfrm>
            <a:off x="4197096" y="50292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Finance &amp; Commerce · Consumer Apps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75320" y="5138928"/>
            <a:ext cx="100584" cy="100584"/>
          </a:xfrm>
          <a:prstGeom prst="rect">
            <a:avLst/>
          </a:prstGeom>
          <a:solidFill>
            <a:srgbClr val="F0B90B"/>
          </a:solidFill>
          <a:ln/>
        </p:spPr>
      </p:sp>
      <p:sp>
        <p:nvSpPr>
          <p:cNvPr id="17" name="Text 15"/>
          <p:cNvSpPr/>
          <p:nvPr/>
        </p:nvSpPr>
        <p:spPr>
          <a:xfrm>
            <a:off x="8494776" y="50292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di Mainnet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6263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4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Pitch Deck · Oktober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A87E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MASALAH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10908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E23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Program reward crypto gagal di kepercayaan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719072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0B9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874520" y="1783080"/>
            <a:ext cx="9601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750" b="1" dirty="0">
                <a:solidFill>
                  <a:srgbClr val="1E23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Distribusi manual &amp; tidak transparan</a:t>
            </a:r>
            <a:endParaRPr lang="en-US" sz="17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6E77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Reward dibagi oleh admin lewat proses di balik layar — anggota harus percaya, tidak ada yang bisa diverifikasi.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640080" y="3035808"/>
            <a:ext cx="10908792" cy="0"/>
          </a:xfrm>
          <a:prstGeom prst="line">
            <a:avLst/>
          </a:prstGeom>
          <a:noFill/>
          <a:ln w="12700">
            <a:solidFill>
              <a:srgbClr val="E4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163824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0B9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874520" y="3227832"/>
            <a:ext cx="9601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750" b="1" dirty="0">
                <a:solidFill>
                  <a:srgbClr val="1E23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Referral bergaya MLM = Ponzi</a:t>
            </a:r>
            <a:endParaRPr lang="en-US" sz="17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6E77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Reward dibayar langsung dari uang anggota baru; kolaps tepat saat pertumbuhan rekrutmen berhenti.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640080" y="4480560"/>
            <a:ext cx="10908792" cy="0"/>
          </a:xfrm>
          <a:prstGeom prst="line">
            <a:avLst/>
          </a:prstGeom>
          <a:noFill/>
          <a:ln w="12700">
            <a:solidFill>
              <a:srgbClr val="E4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608576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0B9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1874520" y="4672584"/>
            <a:ext cx="9601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750" b="1" dirty="0">
                <a:solidFill>
                  <a:srgbClr val="1E23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 terfragmentasi bagi pemula</a:t>
            </a:r>
            <a:endParaRPr lang="en-US" sz="17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6E77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Untuk sekadar ikut, pengguna harus merangkai 3–5 tools terpisah: DEX untuk swap, dashboard staking, tracker tim manual.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11183112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77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A87E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SOLUSI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10908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E23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Semua reward on-chain, satu pintu untuk semua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801368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B9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325880" y="1874520"/>
            <a:ext cx="5257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50" b="1" dirty="0">
                <a:solidFill>
                  <a:srgbClr val="1E23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Distribusi 100% smart contract</a:t>
            </a:r>
            <a:endParaRPr lang="en-US" sz="16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6E77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Pajak tiap transaksi SMT langsung terbagi on-chain ke pool ekosistem — siapa pun bisa memeriksanya di BscScan.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640080" y="3099816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B9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325880" y="3172968"/>
            <a:ext cx="5257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50" b="1" dirty="0">
                <a:solidFill>
                  <a:srgbClr val="1E23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Reward dari ekonomi riil</a:t>
            </a:r>
            <a:endParaRPr lang="en-US" sz="16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6E77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Sumber reward adalah fee transaksi nyata di PancakeSwap; ladder dibatasi 7 level dengan porsi tertulis di kontrak.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40080" y="4398264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B9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325880" y="4471416"/>
            <a:ext cx="5257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50" b="1" dirty="0">
                <a:solidFill>
                  <a:srgbClr val="1E23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Satu dApp ramah pemula</a:t>
            </a:r>
            <a:endParaRPr lang="en-US" sz="16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6E77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Swap, lisensi, farming, reward, dan manajemen tim dalam satu dashboard — cukup hubungkan wallet.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7086600" y="1783080"/>
            <a:ext cx="443484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086600" y="1783080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3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Hubungkan Wallet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299448" y="2441448"/>
            <a:ext cx="0" cy="320040"/>
          </a:xfrm>
          <a:prstGeom prst="line">
            <a:avLst/>
          </a:prstGeom>
          <a:noFill/>
          <a:ln w="22225">
            <a:solidFill>
              <a:srgbClr val="6E778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086600" y="2761488"/>
            <a:ext cx="443484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086600" y="2761488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3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Transaksi di dApp — Swap · Lisensi · Farm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299448" y="3419856"/>
            <a:ext cx="0" cy="320040"/>
          </a:xfrm>
          <a:prstGeom prst="line">
            <a:avLst/>
          </a:prstGeom>
          <a:noFill/>
          <a:ln w="22225">
            <a:solidFill>
              <a:srgbClr val="6E778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086600" y="3739896"/>
            <a:ext cx="4434840" cy="658368"/>
          </a:xfrm>
          <a:prstGeom prst="roundRect">
            <a:avLst>
              <a:gd name="adj" fmla="val 9722"/>
            </a:avLst>
          </a:prstGeom>
          <a:solidFill>
            <a:srgbClr val="F0B90B"/>
          </a:solidFill>
          <a:ln w="12700">
            <a:solidFill>
              <a:srgbClr val="F0B9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86600" y="3739896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14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SmartToken — Tax Engine On-Chain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9299448" y="4398264"/>
            <a:ext cx="0" cy="320040"/>
          </a:xfrm>
          <a:prstGeom prst="line">
            <a:avLst/>
          </a:prstGeom>
          <a:noFill/>
          <a:ln w="22225">
            <a:solidFill>
              <a:srgbClr val="6E778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086600" y="4718304"/>
            <a:ext cx="4434840" cy="658368"/>
          </a:xfrm>
          <a:prstGeom prst="roundRect">
            <a:avLst>
              <a:gd name="adj" fmla="val 9722"/>
            </a:avLst>
          </a:prstGeom>
          <a:solidFill>
            <a:srgbClr val="10141A"/>
          </a:solidFill>
          <a:ln w="12700">
            <a:solidFill>
              <a:srgbClr val="1014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86600" y="4718304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Reward Terdistribusi Otomatis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183112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77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A87E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10908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E23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Satu dashboard, seluruh ekosistem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672084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45920"/>
            <a:ext cx="6720840" cy="384048"/>
          </a:xfrm>
          <a:prstGeom prst="rect">
            <a:avLst/>
          </a:prstGeom>
          <a:solidFill>
            <a:srgbClr val="10141A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1792224"/>
            <a:ext cx="91440" cy="91440"/>
          </a:xfrm>
          <a:prstGeom prst="ellipse">
            <a:avLst/>
          </a:prstGeom>
          <a:solidFill>
            <a:srgbClr val="3A4250"/>
          </a:solidFill>
          <a:ln/>
        </p:spPr>
      </p:sp>
      <p:sp>
        <p:nvSpPr>
          <p:cNvPr id="7" name="Shape 5"/>
          <p:cNvSpPr/>
          <p:nvPr/>
        </p:nvSpPr>
        <p:spPr>
          <a:xfrm>
            <a:off x="987552" y="1792224"/>
            <a:ext cx="91440" cy="91440"/>
          </a:xfrm>
          <a:prstGeom prst="ellipse">
            <a:avLst/>
          </a:prstGeom>
          <a:solidFill>
            <a:srgbClr val="3A4250"/>
          </a:solidFill>
          <a:ln/>
        </p:spPr>
      </p:sp>
      <p:sp>
        <p:nvSpPr>
          <p:cNvPr id="8" name="Shape 6"/>
          <p:cNvSpPr/>
          <p:nvPr/>
        </p:nvSpPr>
        <p:spPr>
          <a:xfrm>
            <a:off x="1170432" y="1792224"/>
            <a:ext cx="91440" cy="91440"/>
          </a:xfrm>
          <a:prstGeom prst="ellipse">
            <a:avLst/>
          </a:prstGeom>
          <a:solidFill>
            <a:srgbClr val="3A4250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2029968"/>
            <a:ext cx="1508760" cy="3776472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0" name="Shape 8"/>
          <p:cNvSpPr/>
          <p:nvPr/>
        </p:nvSpPr>
        <p:spPr>
          <a:xfrm>
            <a:off x="841248" y="2359152"/>
            <a:ext cx="1097280" cy="118872"/>
          </a:xfrm>
          <a:prstGeom prst="roundRect">
            <a:avLst>
              <a:gd name="adj" fmla="val 38462"/>
            </a:avLst>
          </a:prstGeom>
          <a:solidFill>
            <a:srgbClr val="F0B90B"/>
          </a:solidFill>
          <a:ln/>
        </p:spPr>
      </p:sp>
      <p:sp>
        <p:nvSpPr>
          <p:cNvPr id="11" name="Shape 9"/>
          <p:cNvSpPr/>
          <p:nvPr/>
        </p:nvSpPr>
        <p:spPr>
          <a:xfrm>
            <a:off x="841248" y="2761488"/>
            <a:ext cx="1097280" cy="118872"/>
          </a:xfrm>
          <a:prstGeom prst="roundRect">
            <a:avLst>
              <a:gd name="adj" fmla="val 38462"/>
            </a:avLst>
          </a:prstGeom>
          <a:solidFill>
            <a:srgbClr val="E4E7EB"/>
          </a:solidFill>
          <a:ln/>
        </p:spPr>
      </p:sp>
      <p:sp>
        <p:nvSpPr>
          <p:cNvPr id="12" name="Shape 10"/>
          <p:cNvSpPr/>
          <p:nvPr/>
        </p:nvSpPr>
        <p:spPr>
          <a:xfrm>
            <a:off x="841248" y="3163824"/>
            <a:ext cx="1097280" cy="118872"/>
          </a:xfrm>
          <a:prstGeom prst="roundRect">
            <a:avLst>
              <a:gd name="adj" fmla="val 38462"/>
            </a:avLst>
          </a:prstGeom>
          <a:solidFill>
            <a:srgbClr val="E4E7EB"/>
          </a:solidFill>
          <a:ln/>
        </p:spPr>
      </p:sp>
      <p:sp>
        <p:nvSpPr>
          <p:cNvPr id="13" name="Shape 11"/>
          <p:cNvSpPr/>
          <p:nvPr/>
        </p:nvSpPr>
        <p:spPr>
          <a:xfrm>
            <a:off x="841248" y="3566160"/>
            <a:ext cx="1097280" cy="118872"/>
          </a:xfrm>
          <a:prstGeom prst="roundRect">
            <a:avLst>
              <a:gd name="adj" fmla="val 38462"/>
            </a:avLst>
          </a:prstGeom>
          <a:solidFill>
            <a:srgbClr val="E4E7EB"/>
          </a:solidFill>
          <a:ln/>
        </p:spPr>
      </p:sp>
      <p:sp>
        <p:nvSpPr>
          <p:cNvPr id="14" name="Shape 12"/>
          <p:cNvSpPr/>
          <p:nvPr/>
        </p:nvSpPr>
        <p:spPr>
          <a:xfrm>
            <a:off x="841248" y="3968496"/>
            <a:ext cx="1097280" cy="118872"/>
          </a:xfrm>
          <a:prstGeom prst="roundRect">
            <a:avLst>
              <a:gd name="adj" fmla="val 38462"/>
            </a:avLst>
          </a:prstGeom>
          <a:solidFill>
            <a:srgbClr val="E4E7EB"/>
          </a:solidFill>
          <a:ln/>
        </p:spPr>
      </p:sp>
      <p:sp>
        <p:nvSpPr>
          <p:cNvPr id="15" name="Shape 13"/>
          <p:cNvSpPr/>
          <p:nvPr/>
        </p:nvSpPr>
        <p:spPr>
          <a:xfrm>
            <a:off x="2331720" y="2212848"/>
            <a:ext cx="1152144" cy="896112"/>
          </a:xfrm>
          <a:prstGeom prst="roundRect">
            <a:avLst>
              <a:gd name="adj" fmla="val 6122"/>
            </a:avLst>
          </a:prstGeom>
          <a:solidFill>
            <a:srgbClr val="F7F8FA"/>
          </a:solidFill>
          <a:ln/>
        </p:spPr>
      </p:sp>
      <p:sp>
        <p:nvSpPr>
          <p:cNvPr id="16" name="Text 14"/>
          <p:cNvSpPr/>
          <p:nvPr/>
        </p:nvSpPr>
        <p:spPr>
          <a:xfrm>
            <a:off x="2423160" y="2304288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7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Pajak Buy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423160" y="257860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3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15%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3593592" y="2212848"/>
            <a:ext cx="1152144" cy="896112"/>
          </a:xfrm>
          <a:prstGeom prst="roundRect">
            <a:avLst>
              <a:gd name="adj" fmla="val 6122"/>
            </a:avLst>
          </a:prstGeom>
          <a:solidFill>
            <a:srgbClr val="F7F8FA"/>
          </a:solidFill>
          <a:ln/>
        </p:spPr>
      </p:sp>
      <p:sp>
        <p:nvSpPr>
          <p:cNvPr id="19" name="Text 17"/>
          <p:cNvSpPr/>
          <p:nvPr/>
        </p:nvSpPr>
        <p:spPr>
          <a:xfrm>
            <a:off x="3685032" y="2304288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7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Farming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85032" y="257860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3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0,1%/hr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4855464" y="2212848"/>
            <a:ext cx="1152144" cy="896112"/>
          </a:xfrm>
          <a:prstGeom prst="roundRect">
            <a:avLst>
              <a:gd name="adj" fmla="val 6122"/>
            </a:avLst>
          </a:prstGeom>
          <a:solidFill>
            <a:srgbClr val="F7F8FA"/>
          </a:solidFill>
          <a:ln/>
        </p:spPr>
      </p:sp>
      <p:sp>
        <p:nvSpPr>
          <p:cNvPr id="22" name="Text 20"/>
          <p:cNvSpPr/>
          <p:nvPr/>
        </p:nvSpPr>
        <p:spPr>
          <a:xfrm>
            <a:off x="4946904" y="2304288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7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Lisensi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46904" y="257860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3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Tier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6117336" y="2212848"/>
            <a:ext cx="1152144" cy="896112"/>
          </a:xfrm>
          <a:prstGeom prst="roundRect">
            <a:avLst>
              <a:gd name="adj" fmla="val 6122"/>
            </a:avLst>
          </a:prstGeom>
          <a:solidFill>
            <a:srgbClr val="F7F8FA"/>
          </a:solidFill>
          <a:ln/>
        </p:spPr>
      </p:sp>
      <p:sp>
        <p:nvSpPr>
          <p:cNvPr id="25" name="Text 23"/>
          <p:cNvSpPr/>
          <p:nvPr/>
        </p:nvSpPr>
        <p:spPr>
          <a:xfrm>
            <a:off x="6208776" y="2304288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7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08776" y="257860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A87E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Level</a:t>
            </a:r>
            <a:endParaRPr lang="en-US" sz="1900" dirty="0"/>
          </a:p>
        </p:txBody>
      </p:sp>
      <p:sp>
        <p:nvSpPr>
          <p:cNvPr id="27" name="Shape 25"/>
          <p:cNvSpPr/>
          <p:nvPr/>
        </p:nvSpPr>
        <p:spPr>
          <a:xfrm>
            <a:off x="2395728" y="4498848"/>
            <a:ext cx="310896" cy="457200"/>
          </a:xfrm>
          <a:prstGeom prst="rect">
            <a:avLst/>
          </a:prstGeom>
          <a:solidFill>
            <a:srgbClr val="F0B90B"/>
          </a:solidFill>
          <a:ln/>
        </p:spPr>
      </p:sp>
      <p:sp>
        <p:nvSpPr>
          <p:cNvPr id="28" name="Shape 26"/>
          <p:cNvSpPr/>
          <p:nvPr/>
        </p:nvSpPr>
        <p:spPr>
          <a:xfrm>
            <a:off x="2962656" y="4206240"/>
            <a:ext cx="310896" cy="749808"/>
          </a:xfrm>
          <a:prstGeom prst="rect">
            <a:avLst/>
          </a:prstGeom>
          <a:solidFill>
            <a:srgbClr val="F0B90B"/>
          </a:solidFill>
          <a:ln/>
        </p:spPr>
      </p:sp>
      <p:sp>
        <p:nvSpPr>
          <p:cNvPr id="29" name="Shape 27"/>
          <p:cNvSpPr/>
          <p:nvPr/>
        </p:nvSpPr>
        <p:spPr>
          <a:xfrm>
            <a:off x="3529584" y="4389120"/>
            <a:ext cx="310896" cy="566928"/>
          </a:xfrm>
          <a:prstGeom prst="rect">
            <a:avLst/>
          </a:prstGeom>
          <a:solidFill>
            <a:srgbClr val="F0B90B"/>
          </a:solidFill>
          <a:ln/>
        </p:spPr>
      </p:sp>
      <p:sp>
        <p:nvSpPr>
          <p:cNvPr id="30" name="Shape 28"/>
          <p:cNvSpPr/>
          <p:nvPr/>
        </p:nvSpPr>
        <p:spPr>
          <a:xfrm>
            <a:off x="4096512" y="4041648"/>
            <a:ext cx="310896" cy="914400"/>
          </a:xfrm>
          <a:prstGeom prst="rect">
            <a:avLst/>
          </a:prstGeom>
          <a:solidFill>
            <a:srgbClr val="F0B90B"/>
          </a:solidFill>
          <a:ln/>
        </p:spPr>
      </p:sp>
      <p:sp>
        <p:nvSpPr>
          <p:cNvPr id="31" name="Shape 29"/>
          <p:cNvSpPr/>
          <p:nvPr/>
        </p:nvSpPr>
        <p:spPr>
          <a:xfrm>
            <a:off x="4663440" y="4242816"/>
            <a:ext cx="310896" cy="713232"/>
          </a:xfrm>
          <a:prstGeom prst="rect">
            <a:avLst/>
          </a:prstGeom>
          <a:solidFill>
            <a:srgbClr val="F0B90B"/>
          </a:solidFill>
          <a:ln/>
        </p:spPr>
      </p:sp>
      <p:sp>
        <p:nvSpPr>
          <p:cNvPr id="32" name="Shape 30"/>
          <p:cNvSpPr/>
          <p:nvPr/>
        </p:nvSpPr>
        <p:spPr>
          <a:xfrm>
            <a:off x="5230368" y="3877056"/>
            <a:ext cx="310896" cy="1078992"/>
          </a:xfrm>
          <a:prstGeom prst="rect">
            <a:avLst/>
          </a:prstGeom>
          <a:solidFill>
            <a:srgbClr val="F0B90B"/>
          </a:solidFill>
          <a:ln/>
        </p:spPr>
      </p:sp>
      <p:sp>
        <p:nvSpPr>
          <p:cNvPr id="33" name="Shape 31"/>
          <p:cNvSpPr/>
          <p:nvPr/>
        </p:nvSpPr>
        <p:spPr>
          <a:xfrm>
            <a:off x="5797296" y="4114800"/>
            <a:ext cx="310896" cy="841248"/>
          </a:xfrm>
          <a:prstGeom prst="rect">
            <a:avLst/>
          </a:prstGeom>
          <a:solidFill>
            <a:srgbClr val="F0B90B"/>
          </a:solidFill>
          <a:ln/>
        </p:spPr>
      </p:sp>
      <p:sp>
        <p:nvSpPr>
          <p:cNvPr id="34" name="Shape 32"/>
          <p:cNvSpPr/>
          <p:nvPr/>
        </p:nvSpPr>
        <p:spPr>
          <a:xfrm>
            <a:off x="6364224" y="3749040"/>
            <a:ext cx="310896" cy="1207008"/>
          </a:xfrm>
          <a:prstGeom prst="rect">
            <a:avLst/>
          </a:prstGeom>
          <a:solidFill>
            <a:srgbClr val="10141A"/>
          </a:solidFill>
          <a:ln/>
        </p:spPr>
      </p:sp>
      <p:sp>
        <p:nvSpPr>
          <p:cNvPr id="35" name="Shape 33"/>
          <p:cNvSpPr/>
          <p:nvPr/>
        </p:nvSpPr>
        <p:spPr>
          <a:xfrm>
            <a:off x="2331720" y="5047488"/>
            <a:ext cx="4846320" cy="0"/>
          </a:xfrm>
          <a:prstGeom prst="line">
            <a:avLst/>
          </a:prstGeom>
          <a:noFill/>
          <a:ln w="12700">
            <a:solidFill>
              <a:srgbClr val="E4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5916168"/>
            <a:ext cx="6720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7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Ilustrasi antarmuka dApp Smart Ecosystem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680960" y="169164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50" b="1" dirty="0">
                <a:solidFill>
                  <a:srgbClr val="1E23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Swap terintegrasi</a:t>
            </a:r>
            <a:endParaRPr lang="en-US" sz="15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E77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SMT / BNB / BUSD via PancakeSwap V2 — langsung dari dApp.</a:t>
            </a:r>
            <a:endParaRPr lang="en-US" sz="1550" dirty="0"/>
          </a:p>
        </p:txBody>
      </p:sp>
      <p:sp>
        <p:nvSpPr>
          <p:cNvPr id="38" name="Shape 36"/>
          <p:cNvSpPr/>
          <p:nvPr/>
        </p:nvSpPr>
        <p:spPr>
          <a:xfrm>
            <a:off x="7680960" y="2624328"/>
            <a:ext cx="3840480" cy="0"/>
          </a:xfrm>
          <a:prstGeom prst="line">
            <a:avLst/>
          </a:prstGeom>
          <a:noFill/>
          <a:ln w="12700">
            <a:solidFill>
              <a:srgbClr val="E4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680960" y="2770632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50" b="1" dirty="0">
                <a:solidFill>
                  <a:srgbClr val="1E23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Lisensi 4 tier</a:t>
            </a:r>
            <a:endParaRPr lang="en-US" sz="15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E77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Trial · Opportunist · Runner · Visionary (100 → 10.000 SMT).</a:t>
            </a:r>
            <a:endParaRPr lang="en-US" sz="1550" dirty="0"/>
          </a:p>
        </p:txBody>
      </p:sp>
      <p:sp>
        <p:nvSpPr>
          <p:cNvPr id="40" name="Shape 38"/>
          <p:cNvSpPr/>
          <p:nvPr/>
        </p:nvSpPr>
        <p:spPr>
          <a:xfrm>
            <a:off x="7680960" y="3703320"/>
            <a:ext cx="3840480" cy="0"/>
          </a:xfrm>
          <a:prstGeom prst="line">
            <a:avLst/>
          </a:prstGeom>
          <a:noFill/>
          <a:ln w="12700">
            <a:solidFill>
              <a:srgbClr val="E4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680960" y="3849624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50" b="1" dirty="0">
                <a:solidFill>
                  <a:srgbClr val="1E23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Farming</a:t>
            </a:r>
            <a:endParaRPr lang="en-US" sz="15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E77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Reward fixed 0,1% per hari + bagian passive dari pajak.</a:t>
            </a:r>
            <a:endParaRPr lang="en-US" sz="1550" dirty="0"/>
          </a:p>
        </p:txBody>
      </p:sp>
      <p:sp>
        <p:nvSpPr>
          <p:cNvPr id="42" name="Shape 40"/>
          <p:cNvSpPr/>
          <p:nvPr/>
        </p:nvSpPr>
        <p:spPr>
          <a:xfrm>
            <a:off x="7680960" y="4782312"/>
            <a:ext cx="3840480" cy="0"/>
          </a:xfrm>
          <a:prstGeom prst="line">
            <a:avLst/>
          </a:prstGeom>
          <a:noFill/>
          <a:ln w="12700">
            <a:solidFill>
              <a:srgbClr val="E4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680960" y="4928616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50" b="1" dirty="0">
                <a:solidFill>
                  <a:srgbClr val="1E23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 &amp; reward</a:t>
            </a:r>
            <a:endParaRPr lang="en-US" sz="15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E77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Ladder referral 7 level + achievement Nobility (Folks → King).</a:t>
            </a:r>
            <a:endParaRPr lang="en-US" sz="1550" dirty="0"/>
          </a:p>
        </p:txBody>
      </p:sp>
      <p:sp>
        <p:nvSpPr>
          <p:cNvPr id="44" name="Text 42"/>
          <p:cNvSpPr/>
          <p:nvPr/>
        </p:nvSpPr>
        <p:spPr>
          <a:xfrm>
            <a:off x="11183112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77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A87E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EKONOMI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10908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E23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Setiap transaksi menyuburkan ekosistem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29184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9164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3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Transaksi SMT — Buy · Sell · Transfer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286000" y="2258568"/>
            <a:ext cx="0" cy="228600"/>
          </a:xfrm>
          <a:prstGeom prst="line">
            <a:avLst/>
          </a:prstGeom>
          <a:noFill/>
          <a:ln w="22225">
            <a:solidFill>
              <a:srgbClr val="6E7780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40080" y="2487168"/>
            <a:ext cx="3291840" cy="566928"/>
          </a:xfrm>
          <a:prstGeom prst="roundRect">
            <a:avLst>
              <a:gd name="adj" fmla="val 11290"/>
            </a:avLst>
          </a:prstGeom>
          <a:solidFill>
            <a:srgbClr val="F0B90B"/>
          </a:solidFill>
          <a:ln w="12700">
            <a:solidFill>
              <a:srgbClr val="F0B9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48716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4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SmartToken · Tax Engine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286000" y="3054096"/>
            <a:ext cx="0" cy="228600"/>
          </a:xfrm>
          <a:prstGeom prst="line">
            <a:avLst/>
          </a:prstGeom>
          <a:noFill/>
          <a:ln w="22225">
            <a:solidFill>
              <a:srgbClr val="6E778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40080" y="3310128"/>
            <a:ext cx="3291840" cy="420624"/>
          </a:xfrm>
          <a:prstGeom prst="roundRect">
            <a:avLst>
              <a:gd name="adj" fmla="val 13043"/>
            </a:avLst>
          </a:prstGeom>
          <a:solidFill>
            <a:srgbClr val="F7F8FA"/>
          </a:solidFill>
          <a:ln/>
        </p:spPr>
      </p:sp>
      <p:sp>
        <p:nvSpPr>
          <p:cNvPr id="11" name="Shape 9"/>
          <p:cNvSpPr/>
          <p:nvPr/>
        </p:nvSpPr>
        <p:spPr>
          <a:xfrm>
            <a:off x="786384" y="3474720"/>
            <a:ext cx="91440" cy="91440"/>
          </a:xfrm>
          <a:prstGeom prst="rect">
            <a:avLst/>
          </a:prstGeom>
          <a:solidFill>
            <a:srgbClr val="F0B90B"/>
          </a:solidFill>
          <a:ln/>
        </p:spPr>
      </p:sp>
      <p:sp>
        <p:nvSpPr>
          <p:cNvPr id="12" name="Text 10"/>
          <p:cNvSpPr/>
          <p:nvPr/>
        </p:nvSpPr>
        <p:spPr>
          <a:xfrm>
            <a:off x="987552" y="3310128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3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SmartLadder — referral 7 level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3291840" cy="420624"/>
          </a:xfrm>
          <a:prstGeom prst="roundRect">
            <a:avLst>
              <a:gd name="adj" fmla="val 13043"/>
            </a:avLst>
          </a:prstGeom>
          <a:solidFill>
            <a:srgbClr val="F7F8FA"/>
          </a:solidFill>
          <a:ln/>
        </p:spPr>
      </p:sp>
      <p:sp>
        <p:nvSpPr>
          <p:cNvPr id="14" name="Shape 12"/>
          <p:cNvSpPr/>
          <p:nvPr/>
        </p:nvSpPr>
        <p:spPr>
          <a:xfrm>
            <a:off x="786384" y="4005072"/>
            <a:ext cx="91440" cy="91440"/>
          </a:xfrm>
          <a:prstGeom prst="rect">
            <a:avLst/>
          </a:prstGeom>
          <a:solidFill>
            <a:srgbClr val="F0B90B"/>
          </a:solidFill>
          <a:ln/>
        </p:spPr>
      </p:sp>
      <p:sp>
        <p:nvSpPr>
          <p:cNvPr id="15" name="Text 13"/>
          <p:cNvSpPr/>
          <p:nvPr/>
        </p:nvSpPr>
        <p:spPr>
          <a:xfrm>
            <a:off x="987552" y="3840480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3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SmartFarm — reward harian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370832"/>
            <a:ext cx="3291840" cy="420624"/>
          </a:xfrm>
          <a:prstGeom prst="roundRect">
            <a:avLst>
              <a:gd name="adj" fmla="val 13043"/>
            </a:avLst>
          </a:prstGeom>
          <a:solidFill>
            <a:srgbClr val="F7F8FA"/>
          </a:solidFill>
          <a:ln/>
        </p:spPr>
      </p:sp>
      <p:sp>
        <p:nvSpPr>
          <p:cNvPr id="17" name="Shape 15"/>
          <p:cNvSpPr/>
          <p:nvPr/>
        </p:nvSpPr>
        <p:spPr>
          <a:xfrm>
            <a:off x="786384" y="4535424"/>
            <a:ext cx="91440" cy="91440"/>
          </a:xfrm>
          <a:prstGeom prst="rect">
            <a:avLst/>
          </a:prstGeom>
          <a:solidFill>
            <a:srgbClr val="F0B90B"/>
          </a:solidFill>
          <a:ln/>
        </p:spPr>
      </p:sp>
      <p:sp>
        <p:nvSpPr>
          <p:cNvPr id="18" name="Text 16"/>
          <p:cNvSpPr/>
          <p:nvPr/>
        </p:nvSpPr>
        <p:spPr>
          <a:xfrm>
            <a:off x="987552" y="4370832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3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GoldenTreePool — growth reward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901184"/>
            <a:ext cx="3291840" cy="420624"/>
          </a:xfrm>
          <a:prstGeom prst="roundRect">
            <a:avLst>
              <a:gd name="adj" fmla="val 13043"/>
            </a:avLst>
          </a:prstGeom>
          <a:solidFill>
            <a:srgbClr val="F7F8FA"/>
          </a:solidFill>
          <a:ln/>
        </p:spPr>
      </p:sp>
      <p:sp>
        <p:nvSpPr>
          <p:cNvPr id="20" name="Shape 18"/>
          <p:cNvSpPr/>
          <p:nvPr/>
        </p:nvSpPr>
        <p:spPr>
          <a:xfrm>
            <a:off x="786384" y="5065776"/>
            <a:ext cx="91440" cy="91440"/>
          </a:xfrm>
          <a:prstGeom prst="rect">
            <a:avLst/>
          </a:prstGeom>
          <a:solidFill>
            <a:srgbClr val="F0B90B"/>
          </a:solidFill>
          <a:ln/>
        </p:spPr>
      </p:sp>
      <p:sp>
        <p:nvSpPr>
          <p:cNvPr id="21" name="Text 19"/>
          <p:cNvSpPr/>
          <p:nvPr/>
        </p:nvSpPr>
        <p:spPr>
          <a:xfrm>
            <a:off x="987552" y="4901184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3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Achievement — Nobility &amp; lainnya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5431536"/>
            <a:ext cx="3291840" cy="420624"/>
          </a:xfrm>
          <a:prstGeom prst="roundRect">
            <a:avLst>
              <a:gd name="adj" fmla="val 13043"/>
            </a:avLst>
          </a:prstGeom>
          <a:solidFill>
            <a:srgbClr val="F7F8FA"/>
          </a:solidFill>
          <a:ln/>
        </p:spPr>
      </p:sp>
      <p:sp>
        <p:nvSpPr>
          <p:cNvPr id="23" name="Shape 21"/>
          <p:cNvSpPr/>
          <p:nvPr/>
        </p:nvSpPr>
        <p:spPr>
          <a:xfrm>
            <a:off x="786384" y="5596128"/>
            <a:ext cx="91440" cy="91440"/>
          </a:xfrm>
          <a:prstGeom prst="rect">
            <a:avLst/>
          </a:prstGeom>
          <a:solidFill>
            <a:srgbClr val="F0B90B"/>
          </a:solidFill>
          <a:ln/>
        </p:spPr>
      </p:sp>
      <p:sp>
        <p:nvSpPr>
          <p:cNvPr id="24" name="Text 22"/>
          <p:cNvSpPr/>
          <p:nvPr/>
        </p:nvSpPr>
        <p:spPr>
          <a:xfrm>
            <a:off x="987552" y="5431536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3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 &amp; Marketing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92240" y="16916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3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Porsi reward ladder per aktivitas buy (%)</a:t>
            </a:r>
            <a:endParaRPr lang="en-US" sz="1500" dirty="0"/>
          </a:p>
        </p:txBody>
      </p:sp>
      <p:graphicFrame>
        <p:nvGraphicFramePr>
          <p:cNvPr id="26" name="Chart 0" descr=""/>
          <p:cNvGraphicFramePr/>
          <p:nvPr/>
        </p:nvGraphicFramePr>
        <p:xfrm>
          <a:off x="6492240" y="2103120"/>
          <a:ext cx="502920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7" name="Shape 24"/>
          <p:cNvSpPr/>
          <p:nvPr/>
        </p:nvSpPr>
        <p:spPr>
          <a:xfrm>
            <a:off x="0" y="5989320"/>
            <a:ext cx="12188952" cy="566928"/>
          </a:xfrm>
          <a:prstGeom prst="rect">
            <a:avLst/>
          </a:prstGeom>
          <a:solidFill>
            <a:srgbClr val="FDF6E0"/>
          </a:solidFill>
          <a:ln/>
        </p:spPr>
      </p:sp>
      <p:sp>
        <p:nvSpPr>
          <p:cNvPr id="28" name="Text 25"/>
          <p:cNvSpPr/>
          <p:nvPr/>
        </p:nvSpPr>
        <p:spPr>
          <a:xfrm>
            <a:off x="640080" y="5989320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3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Nilai pajak dibaca live dari kontrak </a:t>
            </a:r>
            <a:pPr indent="0" marL="0">
              <a:buNone/>
            </a:pPr>
            <a:r>
              <a:rPr lang="en-US" sz="1250" dirty="0">
                <a:solidFill>
                  <a:srgbClr val="6E77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Emergency tax +10% (maks 24 jam) saat harga turun ≥ 25% / 24 jam — pelindung pool. Sumber: kontrak SmartToken, BSC Mainnet.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11183112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77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A87E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ARSITEKTUR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10908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E23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Serverless — tanpa backend, semua dari kontrak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01168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96596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3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Wallet Pengguna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E23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MetaMask · WalletConnect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651760" y="2350008"/>
            <a:ext cx="411480" cy="0"/>
          </a:xfrm>
          <a:prstGeom prst="line">
            <a:avLst/>
          </a:prstGeom>
          <a:noFill/>
          <a:ln w="22225">
            <a:solidFill>
              <a:srgbClr val="6E7780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063240" y="1965960"/>
            <a:ext cx="237744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063240" y="19659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3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dApp React 17 + MUI 5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E23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ethers.js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40680" y="2350008"/>
            <a:ext cx="411480" cy="0"/>
          </a:xfrm>
          <a:prstGeom prst="line">
            <a:avLst/>
          </a:prstGeom>
          <a:noFill/>
          <a:ln w="22225">
            <a:solidFill>
              <a:srgbClr val="6E778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852160" y="1965960"/>
            <a:ext cx="2240280" cy="777240"/>
          </a:xfrm>
          <a:prstGeom prst="roundRect">
            <a:avLst>
              <a:gd name="adj" fmla="val 8235"/>
            </a:avLst>
          </a:prstGeom>
          <a:solidFill>
            <a:srgbClr val="F0B90B"/>
          </a:solidFill>
          <a:ln w="12700">
            <a:solidFill>
              <a:srgbClr val="F0B9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0" y="19659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4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SmartComp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014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 On-Chain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92440" y="2350008"/>
            <a:ext cx="411480" cy="0"/>
          </a:xfrm>
          <a:prstGeom prst="line">
            <a:avLst/>
          </a:prstGeom>
          <a:noFill/>
          <a:ln w="22225">
            <a:solidFill>
              <a:srgbClr val="6E778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503920" y="1965960"/>
            <a:ext cx="301752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503920" y="196596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3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Smart Contract UUPS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3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BSC Mainnet 56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012680" y="2743200"/>
            <a:ext cx="0" cy="411480"/>
          </a:xfrm>
          <a:prstGeom prst="line">
            <a:avLst/>
          </a:prstGeom>
          <a:noFill/>
          <a:ln w="22225">
            <a:solidFill>
              <a:srgbClr val="6E778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572000" y="3154680"/>
            <a:ext cx="6949440" cy="685800"/>
          </a:xfrm>
          <a:prstGeom prst="rect">
            <a:avLst/>
          </a:prstGeom>
          <a:solidFill>
            <a:srgbClr val="FDF6E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315468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3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PancakeSwap V2 </a:t>
            </a:r>
            <a:pPr algn="ctr" indent="0" marL="0">
              <a:buNone/>
            </a:pPr>
            <a:r>
              <a:rPr lang="en-US" sz="1300" dirty="0">
                <a:solidFill>
                  <a:srgbClr val="6E77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swap &amp; likuiditas   ·   </a:t>
            </a:r>
            <a:pPr algn="ctr" indent="0" marL="0">
              <a:buNone/>
            </a:pPr>
            <a:r>
              <a:rPr lang="en-US" sz="1300" b="1" dirty="0">
                <a:solidFill>
                  <a:srgbClr val="1E23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BSC RPC ×3 </a:t>
            </a:r>
            <a:pPr algn="ctr" indent="0" marL="0">
              <a:buNone/>
            </a:pPr>
            <a:r>
              <a:rPr lang="en-US" sz="1300" dirty="0">
                <a:solidFill>
                  <a:srgbClr val="6E77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baca data   ·   </a:t>
            </a:r>
            <a:pPr algn="ctr" indent="0" marL="0">
              <a:buNone/>
            </a:pPr>
            <a:r>
              <a:rPr lang="en-US" sz="1300" b="1" dirty="0">
                <a:solidFill>
                  <a:srgbClr val="1E23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BscScan </a:t>
            </a:r>
            <a:pPr algn="ctr" indent="0" marL="0">
              <a:buNone/>
            </a:pPr>
            <a:r>
              <a:rPr lang="en-US" sz="1300" dirty="0">
                <a:solidFill>
                  <a:srgbClr val="6E77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verifikasi publik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4526280"/>
            <a:ext cx="3383280" cy="0"/>
          </a:xfrm>
          <a:prstGeom prst="line">
            <a:avLst/>
          </a:prstGeom>
          <a:noFill/>
          <a:ln w="19050">
            <a:solidFill>
              <a:srgbClr val="F0B9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681728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E23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Tanpa server bisnis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E77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Seluruh data &amp; logika dibaca langsung dari blockchain — tidak ada titik kendali tersembunyi.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407408" y="4526280"/>
            <a:ext cx="3383280" cy="0"/>
          </a:xfrm>
          <a:prstGeom prst="line">
            <a:avLst/>
          </a:prstGeom>
          <a:noFill/>
          <a:ln w="19050">
            <a:solidFill>
              <a:srgbClr val="F0B9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07408" y="4681728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E23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 on-chain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E77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SmartComp menyimpan alamat semua modul; ganti alamat cukup 1 transaksi, tanpa redeploy.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174736" y="4526280"/>
            <a:ext cx="3383280" cy="0"/>
          </a:xfrm>
          <a:prstGeom prst="line">
            <a:avLst/>
          </a:prstGeom>
          <a:noFill/>
          <a:ln w="19050">
            <a:solidFill>
              <a:srgbClr val="F0B9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74736" y="4681728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E23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Kendali penuh pengguna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E77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Wallet pengguna menandatangani semua transaksi — dApp tidak pernah memegang dana.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1183112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77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A87E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 SAAT INI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10908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E23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di mainnet, siap dipakai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0B9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640080" y="29443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3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kontrak UUPS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40080" y="327355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7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terverifikasi BscScan · chain 56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46120" y="2057400"/>
            <a:ext cx="0" cy="1920240"/>
          </a:xfrm>
          <a:prstGeom prst="line">
            <a:avLst/>
          </a:prstGeom>
          <a:noFill/>
          <a:ln w="12700">
            <a:solidFill>
              <a:srgbClr val="E4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10712" y="187452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0B9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18/18</a:t>
            </a:r>
            <a:endParaRPr lang="en-US" sz="5800" dirty="0"/>
          </a:p>
        </p:txBody>
      </p:sp>
      <p:sp>
        <p:nvSpPr>
          <p:cNvPr id="9" name="Text 7"/>
          <p:cNvSpPr/>
          <p:nvPr/>
        </p:nvSpPr>
        <p:spPr>
          <a:xfrm>
            <a:off x="3410712" y="29443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3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suite lulus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3410712" y="327355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7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 build + test tiap push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016752" y="2057400"/>
            <a:ext cx="0" cy="1920240"/>
          </a:xfrm>
          <a:prstGeom prst="line">
            <a:avLst/>
          </a:prstGeom>
          <a:noFill/>
          <a:ln w="12700">
            <a:solidFill>
              <a:srgbClr val="E4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81344" y="187452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0B9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endParaRPr lang="en-US" sz="5800" dirty="0"/>
          </a:p>
        </p:txBody>
      </p:sp>
      <p:sp>
        <p:nvSpPr>
          <p:cNvPr id="13" name="Text 11"/>
          <p:cNvSpPr/>
          <p:nvPr/>
        </p:nvSpPr>
        <p:spPr>
          <a:xfrm>
            <a:off x="6181344" y="29443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3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halaman QA visual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181344" y="327355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7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dApp produksi terverifikasi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787384" y="2057400"/>
            <a:ext cx="0" cy="1920240"/>
          </a:xfrm>
          <a:prstGeom prst="line">
            <a:avLst/>
          </a:prstGeom>
          <a:noFill/>
          <a:ln w="12700">
            <a:solidFill>
              <a:srgbClr val="E4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51976" y="187452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0B9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5800" dirty="0"/>
          </a:p>
        </p:txBody>
      </p:sp>
      <p:sp>
        <p:nvSpPr>
          <p:cNvPr id="17" name="Text 15"/>
          <p:cNvSpPr/>
          <p:nvPr/>
        </p:nvSpPr>
        <p:spPr>
          <a:xfrm>
            <a:off x="8951976" y="29443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3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LP pair aktif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951976" y="327355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7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SMT-BNB · SMT-BUSD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0" y="4343400"/>
            <a:ext cx="12188952" cy="1051560"/>
          </a:xfrm>
          <a:prstGeom prst="rect">
            <a:avLst/>
          </a:prstGeom>
          <a:solidFill>
            <a:srgbClr val="FDF6E0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343400"/>
            <a:ext cx="109087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3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Produksi, bukan prototype.  </a:t>
            </a:r>
            <a:pPr indent="0" marL="0">
              <a:buNone/>
            </a:pPr>
            <a:r>
              <a:rPr lang="en-US" sz="1400" dirty="0">
                <a:solidFill>
                  <a:srgbClr val="6E77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NetworkGuard anti salah jaringan · error boundaries · empty states · build sukses — per September 2026.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5760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7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Sumber: laporan QA &amp; log deployment proyek (docs/08, docs/14) — September 2026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183112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77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A87E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KEAMANAN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10908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E23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Dilindungi berlapis, siap diaudit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492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3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UUPS upgradeable + initializer terkunci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6E77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Perbaikan bug tanpa memindahkan dana pengguna ke kontrak baru.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6492240" cy="0"/>
          </a:xfrm>
          <a:prstGeom prst="line">
            <a:avLst/>
          </a:prstGeom>
          <a:noFill/>
          <a:ln w="12700">
            <a:solidFill>
              <a:srgbClr val="E4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907792"/>
            <a:ext cx="6492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3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Kontrol akses 3 lapis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6E77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Owner (strategis) · Operator (harian) · Distributor (pemicu reward) — tidak ada satu kunci untuk segalanya.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822192"/>
            <a:ext cx="6492240" cy="0"/>
          </a:xfrm>
          <a:prstGeom prst="line">
            <a:avLst/>
          </a:prstGeom>
          <a:noFill/>
          <a:ln w="12700">
            <a:solidFill>
              <a:srgbClr val="E4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986784"/>
            <a:ext cx="6492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3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Runbook operasional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6E77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Rotasi ownership &amp; panduan response insiden tersedia publik di repo.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4901184"/>
            <a:ext cx="6492240" cy="0"/>
          </a:xfrm>
          <a:prstGeom prst="line">
            <a:avLst/>
          </a:prstGeom>
          <a:noFill/>
          <a:ln w="12700">
            <a:solidFill>
              <a:srgbClr val="E4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5065776"/>
            <a:ext cx="6492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3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 otomatis + rencana audit eksternal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6E77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&amp; test tiap push; audit pihak ketiga jadi langkah roadmap berikutnya.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115300" y="1828800"/>
            <a:ext cx="2651760" cy="603504"/>
          </a:xfrm>
          <a:prstGeom prst="roundRect">
            <a:avLst>
              <a:gd name="adj" fmla="val 10606"/>
            </a:avLst>
          </a:prstGeom>
          <a:solidFill>
            <a:srgbClr val="FDF6E0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115300" y="1828800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3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 &amp; CI Otomatis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955280" y="2578608"/>
            <a:ext cx="2971800" cy="603504"/>
          </a:xfrm>
          <a:prstGeom prst="roundRect">
            <a:avLst>
              <a:gd name="adj" fmla="val 10606"/>
            </a:avLst>
          </a:prstGeom>
          <a:solidFill>
            <a:srgbClr val="F8E9B8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955280" y="2578608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3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Runbook &amp; Response Insiden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795260" y="3328416"/>
            <a:ext cx="3291840" cy="603504"/>
          </a:xfrm>
          <a:prstGeom prst="roundRect">
            <a:avLst>
              <a:gd name="adj" fmla="val 10606"/>
            </a:avLst>
          </a:prstGeom>
          <a:solidFill>
            <a:srgbClr val="F0D98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795260" y="3328416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3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Kontrol Akses 3 Lapis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635240" y="4078224"/>
            <a:ext cx="3611880" cy="603504"/>
          </a:xfrm>
          <a:prstGeom prst="roundRect">
            <a:avLst>
              <a:gd name="adj" fmla="val 10606"/>
            </a:avLst>
          </a:prstGeom>
          <a:solidFill>
            <a:srgbClr val="F0B90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635240" y="4078224"/>
            <a:ext cx="3611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14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UUPS + SmartComp Registry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635240" y="498348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77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Fondasi di bawah, perlindungan bertumpuk ke atas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183112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77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A87E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ROADMAP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10908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E23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Dari hackathon ke ekosistem komunitas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1371600" y="3127248"/>
            <a:ext cx="9464040" cy="0"/>
          </a:xfrm>
          <a:prstGeom prst="line">
            <a:avLst/>
          </a:prstGeom>
          <a:noFill/>
          <a:ln w="31750">
            <a:solidFill>
              <a:srgbClr val="E4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90472" y="2880360"/>
            <a:ext cx="493776" cy="493776"/>
          </a:xfrm>
          <a:prstGeom prst="ellipse">
            <a:avLst/>
          </a:prstGeom>
          <a:solidFill>
            <a:srgbClr val="F0B90B"/>
          </a:solidFill>
          <a:ln w="22225">
            <a:solidFill>
              <a:srgbClr val="F0B90B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490472" y="288036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14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3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Kontrak &amp; dApp Live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57200" y="36118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E77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kontrak UUPS di mainnet + dApp produksi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25112" y="2880360"/>
            <a:ext cx="493776" cy="49377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6E77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25112" y="288036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E77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291840" y="21031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3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 Eksternal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291840" y="36118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E77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 keamanan pihak ketiga untuk kontrak inti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159752" y="2880360"/>
            <a:ext cx="493776" cy="49377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6E77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59752" y="288036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E77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126480" y="21031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3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Onboarding Komunitas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126480" y="36118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E77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Kampanye lisensi &amp; edukasi pengguna baru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994392" y="2880360"/>
            <a:ext cx="493776" cy="49377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6E77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994392" y="288036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E77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961120" y="21031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3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Pertumbuhan Ekosistem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8961120" y="36118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E77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Likuiditas, integrasi baru &amp; fase Golden Tree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2880360" y="3063240"/>
            <a:ext cx="128016" cy="128016"/>
          </a:xfrm>
          <a:prstGeom prst="ellipse">
            <a:avLst/>
          </a:prstGeom>
          <a:solidFill>
            <a:srgbClr val="F0B90B"/>
          </a:solidFill>
          <a:ln/>
        </p:spPr>
      </p:sp>
      <p:sp>
        <p:nvSpPr>
          <p:cNvPr id="22" name="Text 20"/>
          <p:cNvSpPr/>
          <p:nvPr/>
        </p:nvSpPr>
        <p:spPr>
          <a:xfrm>
            <a:off x="2331720" y="4526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7E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posisi saat ini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5349240"/>
            <a:ext cx="12188952" cy="868680"/>
          </a:xfrm>
          <a:prstGeom prst="rect">
            <a:avLst/>
          </a:prstGeom>
          <a:solidFill>
            <a:srgbClr val="FDF6E0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534924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3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Fondasi selesai dibangun.  </a:t>
            </a:r>
            <a:pPr indent="0" marL="0">
              <a:buNone/>
            </a:pPr>
            <a:r>
              <a:rPr lang="en-US" sz="1400" dirty="0">
                <a:solidFill>
                  <a:srgbClr val="6E77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Dukungan hackathon mempercepat audit eksternal &amp; onboarding komunitas pertama.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183112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77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F0B9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 &amp; KONTAK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Bangun reward yang transparan,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2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bersama Smart Ecosystem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907792"/>
            <a:ext cx="109728" cy="109728"/>
          </a:xfrm>
          <a:prstGeom prst="rect">
            <a:avLst/>
          </a:prstGeom>
          <a:solidFill>
            <a:srgbClr val="F0B90B"/>
          </a:solidFill>
          <a:ln/>
        </p:spPr>
      </p:sp>
      <p:sp>
        <p:nvSpPr>
          <p:cNvPr id="5" name="Text 3"/>
          <p:cNvSpPr/>
          <p:nvPr/>
        </p:nvSpPr>
        <p:spPr>
          <a:xfrm>
            <a:off x="896112" y="2788920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  </a:t>
            </a:r>
            <a:pPr indent="0" marL="0">
              <a:buNone/>
            </a:pPr>
            <a:r>
              <a:rPr lang="en-US" sz="1400" dirty="0">
                <a:solidFill>
                  <a:srgbClr val="9AA4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github.com/eka0789/smarttoken-dapp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3621024"/>
            <a:ext cx="109728" cy="109728"/>
          </a:xfrm>
          <a:prstGeom prst="rect">
            <a:avLst/>
          </a:prstGeom>
          <a:solidFill>
            <a:srgbClr val="F0B90B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3502152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BscScan — Token SMT   </a:t>
            </a:r>
            <a:pPr indent="0" marL="0">
              <a:buNone/>
            </a:pPr>
            <a:r>
              <a:rPr lang="en-US" sz="1400" dirty="0">
                <a:solidFill>
                  <a:srgbClr val="9AA4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bscscan.com/token/0xf3F9B44b88CA47Ea583F6Fde50A8C853e3c09c28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4334256"/>
            <a:ext cx="109728" cy="109728"/>
          </a:xfrm>
          <a:prstGeom prst="rect">
            <a:avLst/>
          </a:prstGeom>
          <a:solidFill>
            <a:srgbClr val="F0B90B"/>
          </a:solidFill>
          <a:ln/>
        </p:spPr>
      </p:sp>
      <p:sp>
        <p:nvSpPr>
          <p:cNvPr id="9" name="Text 7"/>
          <p:cNvSpPr/>
          <p:nvPr/>
        </p:nvSpPr>
        <p:spPr>
          <a:xfrm>
            <a:off x="896112" y="4215384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Track   </a:t>
            </a:r>
            <a:pPr indent="0" marL="0">
              <a:buNone/>
            </a:pPr>
            <a:r>
              <a:rPr lang="en-US" sz="1400" dirty="0">
                <a:solidFill>
                  <a:srgbClr val="9AA4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Finance &amp; Commerce · Consumer Apps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5047488"/>
            <a:ext cx="109728" cy="109728"/>
          </a:xfrm>
          <a:prstGeom prst="rect">
            <a:avLst/>
          </a:prstGeom>
          <a:solidFill>
            <a:srgbClr val="F0B90B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4928616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Network   </a:t>
            </a:r>
            <a:pPr indent="0" marL="0">
              <a:buNone/>
            </a:pPr>
            <a:r>
              <a:rPr lang="en-US" sz="1400" dirty="0">
                <a:solidFill>
                  <a:srgbClr val="9AA4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BNB Smart Chain Mainnet (chain 56)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732520" y="1600200"/>
            <a:ext cx="2286000" cy="2286000"/>
          </a:xfrm>
          <a:prstGeom prst="ellipse">
            <a:avLst/>
          </a:prstGeom>
          <a:solidFill>
            <a:srgbClr val="F0B90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972550" y="1840230"/>
            <a:ext cx="1805940" cy="1805940"/>
          </a:xfrm>
          <a:prstGeom prst="ellipse">
            <a:avLst/>
          </a:prstGeom>
          <a:solidFill>
            <a:srgbClr val="10141A"/>
          </a:solidFill>
          <a:ln/>
        </p:spPr>
      </p:sp>
      <p:sp>
        <p:nvSpPr>
          <p:cNvPr id="14" name="Text 12"/>
          <p:cNvSpPr/>
          <p:nvPr/>
        </p:nvSpPr>
        <p:spPr>
          <a:xfrm>
            <a:off x="8972550" y="1840230"/>
            <a:ext cx="1805940" cy="1805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spc="200" kern="0" dirty="0">
                <a:solidFill>
                  <a:srgbClr val="F0B9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SMT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40080" y="58064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4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Solo developer — smart contract · frontend React · QA &amp; dokumentasi lengkap (16 dokumen di repo)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732520" y="4114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4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Pitch Deck · Oktober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Ecosystem (SMT) — Pitch Deck</dc:title>
  <dc:subject>PptxGenJS Presentation</dc:subject>
  <dc:creator>Smart Ecosystem (SMT)</dc:creator>
  <cp:lastModifiedBy>Smart Ecosystem (SMT)</cp:lastModifiedBy>
  <cp:revision>1</cp:revision>
  <dcterms:created xsi:type="dcterms:W3CDTF">2026-10-04T07:35:34Z</dcterms:created>
  <dcterms:modified xsi:type="dcterms:W3CDTF">2026-10-04T07:35:34Z</dcterms:modified>
</cp:coreProperties>
</file>